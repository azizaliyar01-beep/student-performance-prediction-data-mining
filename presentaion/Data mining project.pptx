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B352FD4-054C-4C83-9145-971AB2A970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414F41-0FD3-45DF-A11D-FA7797F5B4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AAE211-893E-43E4-A336-7534D65DD890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4191000" cy="6858000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3FDBEE-C722-4375-B1C1-D0B96421B9CE}"/>
              </a:ext>
            </a:extLst>
          </p:cNvPr>
          <p:cNvSpPr>
            <a:spLocks noGrp="1"/>
          </p:cNvSpPr>
          <p:nvPr/>
        </p:nvSpPr>
        <p:spPr>
          <a:xfrm>
            <a:off x="8382000" y="876300"/>
            <a:ext cx="2476500" cy="2476500"/>
          </a:xfrm>
          <a:prstGeom prst="ellipse">
            <a:avLst/>
          </a:prstGeom>
          <a:solidFill>
            <a:srgbClr val="DBEAFE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A1584E2-BF07-49AD-AC00-D1E9F66F48A7}"/>
              </a:ext>
            </a:extLst>
          </p:cNvPr>
          <p:cNvSpPr>
            <a:spLocks noGrp="1"/>
          </p:cNvSpPr>
          <p:nvPr/>
        </p:nvSpPr>
        <p:spPr>
          <a:xfrm>
            <a:off x="9858375" y="3638550"/>
            <a:ext cx="1524000" cy="1524000"/>
          </a:xfrm>
          <a:prstGeom prst="ellipse">
            <a:avLst/>
          </a:prstGeom>
          <a:solidFill>
            <a:srgbClr val="06B6D4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77E3D1-AC7C-4AF3-8098-C9C4E07D4F85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70485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Student Performance Prediction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254F75-BD70-42F0-A95C-CAF1B97AA3CF}"/>
              </a:ext>
            </a:extLst>
          </p:cNvPr>
          <p:cNvSpPr>
            <a:spLocks noGrp="1"/>
          </p:cNvSpPr>
          <p:nvPr/>
        </p:nvSpPr>
        <p:spPr>
          <a:xfrm>
            <a:off x="895350" y="3009900"/>
            <a:ext cx="6191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Predicting student pass/fail outcomes using the UCI Student Performance Dataset.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8FE475-FCA2-4650-8EC8-D1BD01E135EB}"/>
              </a:ext>
            </a:extLst>
          </p:cNvPr>
          <p:cNvSpPr>
            <a:spLocks noGrp="1"/>
          </p:cNvSpPr>
          <p:nvPr/>
        </p:nvSpPr>
        <p:spPr>
          <a:xfrm>
            <a:off x="876300" y="4629150"/>
            <a:ext cx="2190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11CDC9-182F-4EEE-99DF-D46C881D2F0B}"/>
              </a:ext>
            </a:extLst>
          </p:cNvPr>
          <p:cNvSpPr>
            <a:spLocks noGrp="1"/>
          </p:cNvSpPr>
          <p:nvPr/>
        </p:nvSpPr>
        <p:spPr>
          <a:xfrm>
            <a:off x="1047750" y="478155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Decision Tree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2533CC-613C-47C5-A10C-DD1B1B3EB777}"/>
              </a:ext>
            </a:extLst>
          </p:cNvPr>
          <p:cNvSpPr>
            <a:spLocks noGrp="1"/>
          </p:cNvSpPr>
          <p:nvPr/>
        </p:nvSpPr>
        <p:spPr>
          <a:xfrm>
            <a:off x="1047750" y="5029200"/>
            <a:ext cx="1847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88.46%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07F2DF-D3EF-46B8-B93A-46EA282B2B8D}"/>
              </a:ext>
            </a:extLst>
          </p:cNvPr>
          <p:cNvSpPr>
            <a:spLocks noGrp="1"/>
          </p:cNvSpPr>
          <p:nvPr/>
        </p:nvSpPr>
        <p:spPr>
          <a:xfrm>
            <a:off x="3333750" y="4629150"/>
            <a:ext cx="2190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AECA8F-2ACC-4C85-B0E3-4CAD4E27A6B9}"/>
              </a:ext>
            </a:extLst>
          </p:cNvPr>
          <p:cNvSpPr>
            <a:spLocks noGrp="1"/>
          </p:cNvSpPr>
          <p:nvPr/>
        </p:nvSpPr>
        <p:spPr>
          <a:xfrm>
            <a:off x="3505200" y="478155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06AC8A-6AB8-46CB-B1A7-EC2174306A8B}"/>
              </a:ext>
            </a:extLst>
          </p:cNvPr>
          <p:cNvSpPr>
            <a:spLocks noGrp="1"/>
          </p:cNvSpPr>
          <p:nvPr/>
        </p:nvSpPr>
        <p:spPr>
          <a:xfrm>
            <a:off x="3505200" y="5029200"/>
            <a:ext cx="1847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86EFAC"/>
                </a:solidFill>
                <a:latin typeface="Aptos"/>
                <a:ea typeface="Aptos"/>
                <a:cs typeface="Aptos"/>
              </a:rPr>
              <a:t>90.77%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1AD5B1-C585-47B1-BC3A-8B51A44312BD}"/>
              </a:ext>
            </a:extLst>
          </p:cNvPr>
          <p:cNvSpPr>
            <a:spLocks noGrp="1"/>
          </p:cNvSpPr>
          <p:nvPr/>
        </p:nvSpPr>
        <p:spPr>
          <a:xfrm>
            <a:off x="8429625" y="1331585"/>
            <a:ext cx="2381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Best model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1A03C5-663C-4E63-93BB-43A0ABFFCE59}"/>
              </a:ext>
            </a:extLst>
          </p:cNvPr>
          <p:cNvSpPr>
            <a:spLocks noGrp="1"/>
          </p:cNvSpPr>
          <p:nvPr/>
        </p:nvSpPr>
        <p:spPr>
          <a:xfrm>
            <a:off x="8429625" y="1826885"/>
            <a:ext cx="2381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3F346B-2503-4EE3-975D-3AC2F9D08589}"/>
              </a:ext>
            </a:extLst>
          </p:cNvPr>
          <p:cNvSpPr>
            <a:spLocks noGrp="1"/>
          </p:cNvSpPr>
          <p:nvPr/>
        </p:nvSpPr>
        <p:spPr>
          <a:xfrm>
            <a:off x="9477375" y="4298721"/>
            <a:ext cx="2286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Classification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D98C22-DF72-491B-B5C9-2D1D7F5715D0}"/>
              </a:ext>
            </a:extLst>
          </p:cNvPr>
          <p:cNvSpPr txBox="1"/>
          <p:nvPr/>
        </p:nvSpPr>
        <p:spPr>
          <a:xfrm>
            <a:off x="803831" y="5812393"/>
            <a:ext cx="2593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By: </a:t>
            </a:r>
            <a:r>
              <a:rPr lang="en-US" dirty="0" err="1">
                <a:solidFill>
                  <a:schemeClr val="bg1"/>
                </a:solidFill>
              </a:rPr>
              <a:t>Azizullah</a:t>
            </a:r>
            <a:r>
              <a:rPr lang="en-US" dirty="0">
                <a:solidFill>
                  <a:schemeClr val="bg1"/>
                </a:solidFill>
              </a:rPr>
              <a:t> &amp; </a:t>
            </a:r>
            <a:r>
              <a:rPr lang="en-US" dirty="0" err="1">
                <a:solidFill>
                  <a:schemeClr val="bg1"/>
                </a:solidFill>
              </a:rPr>
              <a:t>Abozar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5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2074BDD-1043-4DB2-983E-1FA48EE582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41EF0C-98F8-4D3E-B820-2FA5D4ED9662}"/>
              </a:ext>
            </a:extLst>
          </p:cNvPr>
          <p:cNvSpPr>
            <a:spLocks noGrp="1"/>
          </p:cNvSpPr>
          <p:nvPr/>
        </p:nvSpPr>
        <p:spPr>
          <a:xfrm>
            <a:off x="10620375" y="64389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8B75AF-B22E-4263-822E-B17CF4769A99}"/>
              </a:ext>
            </a:extLst>
          </p:cNvPr>
          <p:cNvSpPr>
            <a:spLocks noGrp="1"/>
          </p:cNvSpPr>
          <p:nvPr/>
        </p:nvSpPr>
        <p:spPr>
          <a:xfrm>
            <a:off x="1047750" y="6286500"/>
            <a:ext cx="10096500" cy="1143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F334F6-F039-4135-913D-5B7CA082ACCE}"/>
              </a:ext>
            </a:extLst>
          </p:cNvPr>
          <p:cNvSpPr>
            <a:spLocks noGrp="1"/>
          </p:cNvSpPr>
          <p:nvPr/>
        </p:nvSpPr>
        <p:spPr>
          <a:xfrm>
            <a:off x="1047750" y="685800"/>
            <a:ext cx="80962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dataset combines grades with student background factors.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1627EF-0788-452E-9C90-B46C4157603A}"/>
              </a:ext>
            </a:extLst>
          </p:cNvPr>
          <p:cNvSpPr>
            <a:spLocks noGrp="1"/>
          </p:cNvSpPr>
          <p:nvPr/>
        </p:nvSpPr>
        <p:spPr>
          <a:xfrm>
            <a:off x="1066800" y="1752600"/>
            <a:ext cx="7810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UCI Student Performance Dataset was used for a binary pass/fail prediction task.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E6E29C-3D79-43FD-A83F-3939F5B98F63}"/>
              </a:ext>
            </a:extLst>
          </p:cNvPr>
          <p:cNvSpPr>
            <a:spLocks noGrp="1"/>
          </p:cNvSpPr>
          <p:nvPr/>
        </p:nvSpPr>
        <p:spPr>
          <a:xfrm>
            <a:off x="1047750" y="2400300"/>
            <a:ext cx="2190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75477A-E272-4230-9369-D29E7E225564}"/>
              </a:ext>
            </a:extLst>
          </p:cNvPr>
          <p:cNvSpPr>
            <a:spLocks noGrp="1"/>
          </p:cNvSpPr>
          <p:nvPr/>
        </p:nvSpPr>
        <p:spPr>
          <a:xfrm>
            <a:off x="1219200" y="255270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Rows used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FBA891-8DED-4526-AC03-568CDBD95DB2}"/>
              </a:ext>
            </a:extLst>
          </p:cNvPr>
          <p:cNvSpPr>
            <a:spLocks noGrp="1"/>
          </p:cNvSpPr>
          <p:nvPr/>
        </p:nvSpPr>
        <p:spPr>
          <a:xfrm>
            <a:off x="1219200" y="2800350"/>
            <a:ext cx="1847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649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AC69E5-3E9D-4D7C-9B4C-2B80C71A28AB}"/>
              </a:ext>
            </a:extLst>
          </p:cNvPr>
          <p:cNvSpPr>
            <a:spLocks noGrp="1"/>
          </p:cNvSpPr>
          <p:nvPr/>
        </p:nvSpPr>
        <p:spPr>
          <a:xfrm>
            <a:off x="3524250" y="2400300"/>
            <a:ext cx="2190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FFE07-E9D3-40BE-B41B-F03D5ADFDA00}"/>
              </a:ext>
            </a:extLst>
          </p:cNvPr>
          <p:cNvSpPr>
            <a:spLocks noGrp="1"/>
          </p:cNvSpPr>
          <p:nvPr/>
        </p:nvSpPr>
        <p:spPr>
          <a:xfrm>
            <a:off x="3695700" y="255270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EF06A8-FE81-48F3-9040-622E59963392}"/>
              </a:ext>
            </a:extLst>
          </p:cNvPr>
          <p:cNvSpPr>
            <a:spLocks noGrp="1"/>
          </p:cNvSpPr>
          <p:nvPr/>
        </p:nvSpPr>
        <p:spPr>
          <a:xfrm>
            <a:off x="3695700" y="2800350"/>
            <a:ext cx="1847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30+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6EB5F8-7D6F-49D8-BDE1-4A96AECBD680}"/>
              </a:ext>
            </a:extLst>
          </p:cNvPr>
          <p:cNvSpPr>
            <a:spLocks noGrp="1"/>
          </p:cNvSpPr>
          <p:nvPr/>
        </p:nvSpPr>
        <p:spPr>
          <a:xfrm>
            <a:off x="6000750" y="2400300"/>
            <a:ext cx="2190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34333E-9FA3-4BC0-A892-9367161C5E7B}"/>
              </a:ext>
            </a:extLst>
          </p:cNvPr>
          <p:cNvSpPr>
            <a:spLocks noGrp="1"/>
          </p:cNvSpPr>
          <p:nvPr/>
        </p:nvSpPr>
        <p:spPr>
          <a:xfrm>
            <a:off x="6172200" y="255270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Task type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2BE4D7-5487-4400-9443-ACFFFA64AE40}"/>
              </a:ext>
            </a:extLst>
          </p:cNvPr>
          <p:cNvSpPr>
            <a:spLocks noGrp="1"/>
          </p:cNvSpPr>
          <p:nvPr/>
        </p:nvSpPr>
        <p:spPr>
          <a:xfrm>
            <a:off x="6172200" y="2800350"/>
            <a:ext cx="1847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Classification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0C35C-0ABA-48D1-9746-E65012EE7AA1}"/>
              </a:ext>
            </a:extLst>
          </p:cNvPr>
          <p:cNvSpPr>
            <a:spLocks noGrp="1"/>
          </p:cNvSpPr>
          <p:nvPr/>
        </p:nvSpPr>
        <p:spPr>
          <a:xfrm>
            <a:off x="8782050" y="2247900"/>
            <a:ext cx="226695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34F9B1-3AF6-4A22-B90A-9A63A49E4C64}"/>
              </a:ext>
            </a:extLst>
          </p:cNvPr>
          <p:cNvSpPr>
            <a:spLocks noGrp="1"/>
          </p:cNvSpPr>
          <p:nvPr/>
        </p:nvSpPr>
        <p:spPr>
          <a:xfrm>
            <a:off x="9010650" y="24955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Main groups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205293-D2EC-4639-B0D6-D4D5C0AF785C}"/>
              </a:ext>
            </a:extLst>
          </p:cNvPr>
          <p:cNvSpPr>
            <a:spLocks noGrp="1"/>
          </p:cNvSpPr>
          <p:nvPr/>
        </p:nvSpPr>
        <p:spPr>
          <a:xfrm>
            <a:off x="9010650" y="2914650"/>
            <a:ext cx="1809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Grades</a:t>
            </a:r>
          </a:p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Demographics</a:t>
            </a:r>
          </a:p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Family and school factors</a:t>
            </a:r>
          </a:p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Social behavior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A444BC-D787-4D7A-AC26-34DE8AB4ED08}"/>
              </a:ext>
            </a:extLst>
          </p:cNvPr>
          <p:cNvSpPr>
            <a:spLocks noGrp="1"/>
          </p:cNvSpPr>
          <p:nvPr/>
        </p:nvSpPr>
        <p:spPr>
          <a:xfrm>
            <a:off x="1066800" y="447675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dataset contains information about students from Portuguese secondary schools. It includes previous grades, study time, absences, family support, school support, and other factors.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CE06D1-6239-4736-B141-3B2636FBDD15}"/>
              </a:ext>
            </a:extLst>
          </p:cNvPr>
          <p:cNvSpPr>
            <a:spLocks noGrp="1"/>
          </p:cNvSpPr>
          <p:nvPr/>
        </p:nvSpPr>
        <p:spPr>
          <a:xfrm>
            <a:off x="1047750" y="6438900"/>
            <a:ext cx="742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UCI Machine Learning Repository, Student Performance Dataset; Cortez (2008).</a:t>
            </a:r>
          </a:p>
        </p:txBody>
      </p:sp>
    </p:spTree>
    <p:extLst>
      <p:ext uri="{BB962C8B-B14F-4D97-AF65-F5344CB8AC3E}">
        <p14:creationId xmlns:p14="http://schemas.microsoft.com/office/powerpoint/2010/main" val="1799491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C80C7B4-C2C7-4EC7-8767-F75F82E8AA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6820B3-F5FB-44A8-8DC6-83E37D553744}"/>
              </a:ext>
            </a:extLst>
          </p:cNvPr>
          <p:cNvSpPr>
            <a:spLocks noGrp="1"/>
          </p:cNvSpPr>
          <p:nvPr/>
        </p:nvSpPr>
        <p:spPr>
          <a:xfrm>
            <a:off x="10620375" y="64389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4F76DB-C3B8-4127-9455-DA1419178AD1}"/>
              </a:ext>
            </a:extLst>
          </p:cNvPr>
          <p:cNvSpPr>
            <a:spLocks noGrp="1"/>
          </p:cNvSpPr>
          <p:nvPr/>
        </p:nvSpPr>
        <p:spPr>
          <a:xfrm>
            <a:off x="1047750" y="6286500"/>
            <a:ext cx="10096500" cy="1143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9D32E4-A9A7-4D1C-9B17-F66290873395}"/>
              </a:ext>
            </a:extLst>
          </p:cNvPr>
          <p:cNvSpPr>
            <a:spLocks noGrp="1"/>
          </p:cNvSpPr>
          <p:nvPr/>
        </p:nvSpPr>
        <p:spPr>
          <a:xfrm>
            <a:off x="1047750" y="685800"/>
            <a:ext cx="80962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Final grade was converted into a clear pass/fail target.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6467E5-87E3-41A5-852B-A2F63C650BF2}"/>
              </a:ext>
            </a:extLst>
          </p:cNvPr>
          <p:cNvSpPr>
            <a:spLocks noGrp="1"/>
          </p:cNvSpPr>
          <p:nvPr/>
        </p:nvSpPr>
        <p:spPr>
          <a:xfrm>
            <a:off x="1066800" y="1752600"/>
            <a:ext cx="7810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This changed the problem from grade prediction into a classification project.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4917B1-2611-49DA-BF7D-E411116DF6FC}"/>
              </a:ext>
            </a:extLst>
          </p:cNvPr>
          <p:cNvSpPr>
            <a:spLocks noGrp="1"/>
          </p:cNvSpPr>
          <p:nvPr/>
        </p:nvSpPr>
        <p:spPr>
          <a:xfrm>
            <a:off x="1143000" y="2286000"/>
            <a:ext cx="409575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5D5938-2CFE-4682-8A46-E0689EC089B6}"/>
              </a:ext>
            </a:extLst>
          </p:cNvPr>
          <p:cNvSpPr>
            <a:spLocks noGrp="1"/>
          </p:cNvSpPr>
          <p:nvPr/>
        </p:nvSpPr>
        <p:spPr>
          <a:xfrm>
            <a:off x="1428750" y="25717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Target rule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A0B5A4-C51A-46A9-B61F-8BAB1F31387B}"/>
              </a:ext>
            </a:extLst>
          </p:cNvPr>
          <p:cNvSpPr>
            <a:spLocks noGrp="1"/>
          </p:cNvSpPr>
          <p:nvPr/>
        </p:nvSpPr>
        <p:spPr>
          <a:xfrm>
            <a:off x="1428750" y="3086100"/>
            <a:ext cx="342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6A34A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16A34A"/>
                </a:solidFill>
                <a:latin typeface="Aptos Mono"/>
                <a:ea typeface="Aptos Mono"/>
                <a:cs typeface="Aptos Mono"/>
              </a:rPr>
              <a:t>G3 &gt;= 10  -&gt;  Pass (1)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81EB22-C011-4A82-9501-AF6F3D3BCA95}"/>
              </a:ext>
            </a:extLst>
          </p:cNvPr>
          <p:cNvSpPr>
            <a:spLocks noGrp="1"/>
          </p:cNvSpPr>
          <p:nvPr/>
        </p:nvSpPr>
        <p:spPr>
          <a:xfrm>
            <a:off x="1428750" y="3714750"/>
            <a:ext cx="342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C2626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DC2626"/>
                </a:solidFill>
                <a:latin typeface="Aptos Mono"/>
                <a:ea typeface="Aptos Mono"/>
                <a:cs typeface="Aptos Mono"/>
              </a:rPr>
              <a:t>G3 &lt; 10   -&gt;  Fail (0)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8876F37-6F59-4A12-AD97-524AA25E8EE0}"/>
              </a:ext>
            </a:extLst>
          </p:cNvPr>
          <p:cNvSpPr>
            <a:spLocks noGrp="1"/>
          </p:cNvSpPr>
          <p:nvPr/>
        </p:nvSpPr>
        <p:spPr>
          <a:xfrm>
            <a:off x="6191250" y="2400300"/>
            <a:ext cx="457200" cy="457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AAA068-D7D4-49D0-8C0D-5AF03FB3C4A3}"/>
              </a:ext>
            </a:extLst>
          </p:cNvPr>
          <p:cNvSpPr>
            <a:spLocks noGrp="1"/>
          </p:cNvSpPr>
          <p:nvPr/>
        </p:nvSpPr>
        <p:spPr>
          <a:xfrm>
            <a:off x="6191250" y="24955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80B59C-421C-4D21-A474-CD64D7BE2752}"/>
              </a:ext>
            </a:extLst>
          </p:cNvPr>
          <p:cNvSpPr>
            <a:spLocks noGrp="1"/>
          </p:cNvSpPr>
          <p:nvPr/>
        </p:nvSpPr>
        <p:spPr>
          <a:xfrm>
            <a:off x="6896100" y="238125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Check missing values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A94B9C-6DEA-472B-BBAA-B3322646B226}"/>
              </a:ext>
            </a:extLst>
          </p:cNvPr>
          <p:cNvSpPr>
            <a:spLocks noGrp="1"/>
          </p:cNvSpPr>
          <p:nvPr/>
        </p:nvSpPr>
        <p:spPr>
          <a:xfrm>
            <a:off x="6896100" y="268605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 missing values found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C07228F-16CE-4450-BA22-D0FA60B54545}"/>
              </a:ext>
            </a:extLst>
          </p:cNvPr>
          <p:cNvSpPr>
            <a:spLocks noGrp="1"/>
          </p:cNvSpPr>
          <p:nvPr/>
        </p:nvSpPr>
        <p:spPr>
          <a:xfrm>
            <a:off x="6191250" y="3162300"/>
            <a:ext cx="457200" cy="457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1D1816-B404-4B10-9D30-FE1C76F1DE7B}"/>
              </a:ext>
            </a:extLst>
          </p:cNvPr>
          <p:cNvSpPr>
            <a:spLocks noGrp="1"/>
          </p:cNvSpPr>
          <p:nvPr/>
        </p:nvSpPr>
        <p:spPr>
          <a:xfrm>
            <a:off x="6191250" y="32575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76475B-A103-480D-888C-AC488B0BDAA0}"/>
              </a:ext>
            </a:extLst>
          </p:cNvPr>
          <p:cNvSpPr>
            <a:spLocks noGrp="1"/>
          </p:cNvSpPr>
          <p:nvPr/>
        </p:nvSpPr>
        <p:spPr>
          <a:xfrm>
            <a:off x="6896100" y="314325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Remove target leakage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E355A3-5427-40A1-8DE7-2782EBEFF9CA}"/>
              </a:ext>
            </a:extLst>
          </p:cNvPr>
          <p:cNvSpPr>
            <a:spLocks noGrp="1"/>
          </p:cNvSpPr>
          <p:nvPr/>
        </p:nvSpPr>
        <p:spPr>
          <a:xfrm>
            <a:off x="6896100" y="344805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Dropped G3 after creating pass_fail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F950C03-8B63-4BF3-A35A-49406341BF31}"/>
              </a:ext>
            </a:extLst>
          </p:cNvPr>
          <p:cNvSpPr>
            <a:spLocks noGrp="1"/>
          </p:cNvSpPr>
          <p:nvPr/>
        </p:nvSpPr>
        <p:spPr>
          <a:xfrm>
            <a:off x="6191250" y="3924300"/>
            <a:ext cx="457200" cy="457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9FDB2B-97C7-40A1-955E-3EBE6123663C}"/>
              </a:ext>
            </a:extLst>
          </p:cNvPr>
          <p:cNvSpPr>
            <a:spLocks noGrp="1"/>
          </p:cNvSpPr>
          <p:nvPr/>
        </p:nvSpPr>
        <p:spPr>
          <a:xfrm>
            <a:off x="6191250" y="40195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F53A97-64F4-4059-A0B8-68F3FD1834CF}"/>
              </a:ext>
            </a:extLst>
          </p:cNvPr>
          <p:cNvSpPr>
            <a:spLocks noGrp="1"/>
          </p:cNvSpPr>
          <p:nvPr/>
        </p:nvSpPr>
        <p:spPr>
          <a:xfrm>
            <a:off x="6896100" y="390525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Encode categories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B7C4C8-4AE1-400E-89AE-7E18EDB0567E}"/>
              </a:ext>
            </a:extLst>
          </p:cNvPr>
          <p:cNvSpPr>
            <a:spLocks noGrp="1"/>
          </p:cNvSpPr>
          <p:nvPr/>
        </p:nvSpPr>
        <p:spPr>
          <a:xfrm>
            <a:off x="6896100" y="421005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Converted text columns to numeric columns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5C41F67-8E60-415F-AB1D-6EEF62430596}"/>
              </a:ext>
            </a:extLst>
          </p:cNvPr>
          <p:cNvSpPr>
            <a:spLocks noGrp="1"/>
          </p:cNvSpPr>
          <p:nvPr/>
        </p:nvSpPr>
        <p:spPr>
          <a:xfrm>
            <a:off x="6191250" y="4686300"/>
            <a:ext cx="457200" cy="457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6C9AD6-8F21-4D16-846B-DBCC787F782D}"/>
              </a:ext>
            </a:extLst>
          </p:cNvPr>
          <p:cNvSpPr>
            <a:spLocks noGrp="1"/>
          </p:cNvSpPr>
          <p:nvPr/>
        </p:nvSpPr>
        <p:spPr>
          <a:xfrm>
            <a:off x="6191250" y="47815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D2D9A6-643D-4EA5-B786-553B81F5EA61}"/>
              </a:ext>
            </a:extLst>
          </p:cNvPr>
          <p:cNvSpPr>
            <a:spLocks noGrp="1"/>
          </p:cNvSpPr>
          <p:nvPr/>
        </p:nvSpPr>
        <p:spPr>
          <a:xfrm>
            <a:off x="6896100" y="466725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Prepare model data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D9D03B-D92A-4E68-AA2E-7CB7B45B7AE4}"/>
              </a:ext>
            </a:extLst>
          </p:cNvPr>
          <p:cNvSpPr>
            <a:spLocks noGrp="1"/>
          </p:cNvSpPr>
          <p:nvPr/>
        </p:nvSpPr>
        <p:spPr>
          <a:xfrm>
            <a:off x="6896100" y="497205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Separated X features and y target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9E320E-8967-4984-BE4E-5276D8E2BA95}"/>
              </a:ext>
            </a:extLst>
          </p:cNvPr>
          <p:cNvSpPr>
            <a:spLocks noGrp="1"/>
          </p:cNvSpPr>
          <p:nvPr/>
        </p:nvSpPr>
        <p:spPr>
          <a:xfrm>
            <a:off x="1143000" y="4762500"/>
            <a:ext cx="4095750" cy="323850"/>
          </a:xfrm>
          <a:prstGeom prst="rect">
            <a:avLst/>
          </a:prstGeom>
          <a:solidFill>
            <a:srgbClr val="DBEA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DC2470-E560-4548-BF32-975F1E7960EF}"/>
              </a:ext>
            </a:extLst>
          </p:cNvPr>
          <p:cNvSpPr>
            <a:spLocks noGrp="1"/>
          </p:cNvSpPr>
          <p:nvPr/>
        </p:nvSpPr>
        <p:spPr>
          <a:xfrm>
            <a:off x="1143000" y="481965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Prediction target: pass_fail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97FB31-BD91-45BB-80EE-7090DFE1B815}"/>
              </a:ext>
            </a:extLst>
          </p:cNvPr>
          <p:cNvSpPr>
            <a:spLocks noGrp="1"/>
          </p:cNvSpPr>
          <p:nvPr/>
        </p:nvSpPr>
        <p:spPr>
          <a:xfrm>
            <a:off x="1047750" y="6438900"/>
            <a:ext cx="742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Note: G1 and G2 were kept because they represent earlier academic performance.</a:t>
            </a:r>
          </a:p>
        </p:txBody>
      </p:sp>
    </p:spTree>
    <p:extLst>
      <p:ext uri="{BB962C8B-B14F-4D97-AF65-F5344CB8AC3E}">
        <p14:creationId xmlns:p14="http://schemas.microsoft.com/office/powerpoint/2010/main" val="955606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476C5893-380A-43FB-94FA-53B3CCC682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7B9654-5B11-470E-BCFC-ADBBA9589F32}"/>
              </a:ext>
            </a:extLst>
          </p:cNvPr>
          <p:cNvSpPr>
            <a:spLocks noGrp="1"/>
          </p:cNvSpPr>
          <p:nvPr/>
        </p:nvSpPr>
        <p:spPr>
          <a:xfrm>
            <a:off x="10620375" y="64389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28CA3E-C70A-43FF-9CC1-16A3413789C7}"/>
              </a:ext>
            </a:extLst>
          </p:cNvPr>
          <p:cNvSpPr>
            <a:spLocks noGrp="1"/>
          </p:cNvSpPr>
          <p:nvPr/>
        </p:nvSpPr>
        <p:spPr>
          <a:xfrm>
            <a:off x="1047750" y="6286500"/>
            <a:ext cx="10096500" cy="1143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86FFF6-F793-4E49-8F04-46AF54270611}"/>
              </a:ext>
            </a:extLst>
          </p:cNvPr>
          <p:cNvSpPr>
            <a:spLocks noGrp="1"/>
          </p:cNvSpPr>
          <p:nvPr/>
        </p:nvSpPr>
        <p:spPr>
          <a:xfrm>
            <a:off x="1047750" y="685800"/>
            <a:ext cx="80962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workflow followed a standard machine-learning pipeline.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BFD467-EA67-4EE8-A88D-F408A35302DA}"/>
              </a:ext>
            </a:extLst>
          </p:cNvPr>
          <p:cNvSpPr>
            <a:spLocks noGrp="1"/>
          </p:cNvSpPr>
          <p:nvPr/>
        </p:nvSpPr>
        <p:spPr>
          <a:xfrm>
            <a:off x="1066800" y="1752600"/>
            <a:ext cx="7810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Each step prepared the data for fair model training and testing.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182530-9AA2-408D-8494-D0B749C0FABA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14859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223DA19-AF6D-462A-A812-2A2C7870E067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361950" cy="36195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E11852-6D78-4482-AA66-355BBC770F6F}"/>
              </a:ext>
            </a:extLst>
          </p:cNvPr>
          <p:cNvSpPr>
            <a:spLocks noGrp="1"/>
          </p:cNvSpPr>
          <p:nvPr/>
        </p:nvSpPr>
        <p:spPr>
          <a:xfrm>
            <a:off x="857250" y="28003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11DA0C-0797-4C92-974E-C0894BF488BE}"/>
              </a:ext>
            </a:extLst>
          </p:cNvPr>
          <p:cNvSpPr>
            <a:spLocks noGrp="1"/>
          </p:cNvSpPr>
          <p:nvPr/>
        </p:nvSpPr>
        <p:spPr>
          <a:xfrm>
            <a:off x="857250" y="31813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Load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A1F73B-5D1C-49A2-A456-ED5C714504EB}"/>
              </a:ext>
            </a:extLst>
          </p:cNvPr>
          <p:cNvSpPr>
            <a:spLocks noGrp="1"/>
          </p:cNvSpPr>
          <p:nvPr/>
        </p:nvSpPr>
        <p:spPr>
          <a:xfrm>
            <a:off x="857250" y="35623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UCI dataset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7919C5-7E4A-4520-8751-C1FD61E5E867}"/>
              </a:ext>
            </a:extLst>
          </p:cNvPr>
          <p:cNvSpPr>
            <a:spLocks noGrp="1"/>
          </p:cNvSpPr>
          <p:nvPr/>
        </p:nvSpPr>
        <p:spPr>
          <a:xfrm>
            <a:off x="2228850" y="3409950"/>
            <a:ext cx="5334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2D6C7A8D-A2F5-4553-B3AA-5417F08B95BD}"/>
              </a:ext>
            </a:extLst>
          </p:cNvPr>
          <p:cNvSpPr>
            <a:spLocks noGrp="1"/>
          </p:cNvSpPr>
          <p:nvPr/>
        </p:nvSpPr>
        <p:spPr>
          <a:xfrm>
            <a:off x="2705100" y="3352800"/>
            <a:ext cx="114300" cy="114300"/>
          </a:xfrm>
          <a:prstGeom prst="triangl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783C84-2A28-46CF-80CF-369DD2756882}"/>
              </a:ext>
            </a:extLst>
          </p:cNvPr>
          <p:cNvSpPr>
            <a:spLocks noGrp="1"/>
          </p:cNvSpPr>
          <p:nvPr/>
        </p:nvSpPr>
        <p:spPr>
          <a:xfrm>
            <a:off x="2552700" y="2914650"/>
            <a:ext cx="14859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FD7005-8095-48DE-B2C1-32AB4B2A639F}"/>
              </a:ext>
            </a:extLst>
          </p:cNvPr>
          <p:cNvSpPr>
            <a:spLocks noGrp="1"/>
          </p:cNvSpPr>
          <p:nvPr/>
        </p:nvSpPr>
        <p:spPr>
          <a:xfrm>
            <a:off x="2724150" y="2724150"/>
            <a:ext cx="361950" cy="36195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E3F809-62EE-4106-BB7E-CA8ECE7A391C}"/>
              </a:ext>
            </a:extLst>
          </p:cNvPr>
          <p:cNvSpPr>
            <a:spLocks noGrp="1"/>
          </p:cNvSpPr>
          <p:nvPr/>
        </p:nvSpPr>
        <p:spPr>
          <a:xfrm>
            <a:off x="2724150" y="28003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FAED74-173E-488C-B1FC-62255DB277FA}"/>
              </a:ext>
            </a:extLst>
          </p:cNvPr>
          <p:cNvSpPr>
            <a:spLocks noGrp="1"/>
          </p:cNvSpPr>
          <p:nvPr/>
        </p:nvSpPr>
        <p:spPr>
          <a:xfrm>
            <a:off x="2724150" y="31813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Create target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CCF7D7-1AC3-4BD7-B209-A129FC2BF46F}"/>
              </a:ext>
            </a:extLst>
          </p:cNvPr>
          <p:cNvSpPr>
            <a:spLocks noGrp="1"/>
          </p:cNvSpPr>
          <p:nvPr/>
        </p:nvSpPr>
        <p:spPr>
          <a:xfrm>
            <a:off x="2724150" y="35623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pass / fail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29FFEF-1876-424C-80AF-563C225B15B5}"/>
              </a:ext>
            </a:extLst>
          </p:cNvPr>
          <p:cNvSpPr>
            <a:spLocks noGrp="1"/>
          </p:cNvSpPr>
          <p:nvPr/>
        </p:nvSpPr>
        <p:spPr>
          <a:xfrm>
            <a:off x="4095750" y="3409950"/>
            <a:ext cx="5334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51068B37-6905-4B06-A064-014B6B53D3A7}"/>
              </a:ext>
            </a:extLst>
          </p:cNvPr>
          <p:cNvSpPr>
            <a:spLocks noGrp="1"/>
          </p:cNvSpPr>
          <p:nvPr/>
        </p:nvSpPr>
        <p:spPr>
          <a:xfrm>
            <a:off x="4572000" y="3352800"/>
            <a:ext cx="114300" cy="114300"/>
          </a:xfrm>
          <a:prstGeom prst="triangl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63F18-FA36-471E-9478-2ED1BD2BC5BC}"/>
              </a:ext>
            </a:extLst>
          </p:cNvPr>
          <p:cNvSpPr>
            <a:spLocks noGrp="1"/>
          </p:cNvSpPr>
          <p:nvPr/>
        </p:nvSpPr>
        <p:spPr>
          <a:xfrm>
            <a:off x="4419600" y="2914650"/>
            <a:ext cx="14859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7F151DA-461D-4B87-9C7B-5E90950D4BE7}"/>
              </a:ext>
            </a:extLst>
          </p:cNvPr>
          <p:cNvSpPr>
            <a:spLocks noGrp="1"/>
          </p:cNvSpPr>
          <p:nvPr/>
        </p:nvSpPr>
        <p:spPr>
          <a:xfrm>
            <a:off x="4591050" y="2724150"/>
            <a:ext cx="361950" cy="36195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E2823F-43BD-41D7-9D94-59D54C867A17}"/>
              </a:ext>
            </a:extLst>
          </p:cNvPr>
          <p:cNvSpPr>
            <a:spLocks noGrp="1"/>
          </p:cNvSpPr>
          <p:nvPr/>
        </p:nvSpPr>
        <p:spPr>
          <a:xfrm>
            <a:off x="4591050" y="28003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68EBD6-2CDB-4DA2-8CCC-3AB2EB8CA944}"/>
              </a:ext>
            </a:extLst>
          </p:cNvPr>
          <p:cNvSpPr>
            <a:spLocks noGrp="1"/>
          </p:cNvSpPr>
          <p:nvPr/>
        </p:nvSpPr>
        <p:spPr>
          <a:xfrm>
            <a:off x="4591050" y="31813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Preprocess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1188F7-A0CC-4383-ACB3-3484F8194691}"/>
              </a:ext>
            </a:extLst>
          </p:cNvPr>
          <p:cNvSpPr>
            <a:spLocks noGrp="1"/>
          </p:cNvSpPr>
          <p:nvPr/>
        </p:nvSpPr>
        <p:spPr>
          <a:xfrm>
            <a:off x="4591050" y="35623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encode text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592790-DBAD-4831-BB95-6AE1B24E4E01}"/>
              </a:ext>
            </a:extLst>
          </p:cNvPr>
          <p:cNvSpPr>
            <a:spLocks noGrp="1"/>
          </p:cNvSpPr>
          <p:nvPr/>
        </p:nvSpPr>
        <p:spPr>
          <a:xfrm>
            <a:off x="5962650" y="3409950"/>
            <a:ext cx="5334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2FFD0FD-663C-4BC6-ABCD-4C4AF7779188}"/>
              </a:ext>
            </a:extLst>
          </p:cNvPr>
          <p:cNvSpPr>
            <a:spLocks noGrp="1"/>
          </p:cNvSpPr>
          <p:nvPr/>
        </p:nvSpPr>
        <p:spPr>
          <a:xfrm>
            <a:off x="6438900" y="3352800"/>
            <a:ext cx="114300" cy="114300"/>
          </a:xfrm>
          <a:prstGeom prst="triangl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BE9A056-B510-42AE-8D22-13AC29D31385}"/>
              </a:ext>
            </a:extLst>
          </p:cNvPr>
          <p:cNvSpPr>
            <a:spLocks noGrp="1"/>
          </p:cNvSpPr>
          <p:nvPr/>
        </p:nvSpPr>
        <p:spPr>
          <a:xfrm>
            <a:off x="6286500" y="2914650"/>
            <a:ext cx="14859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02201E3-ADAA-4149-AA04-A1502CF7FFA5}"/>
              </a:ext>
            </a:extLst>
          </p:cNvPr>
          <p:cNvSpPr>
            <a:spLocks noGrp="1"/>
          </p:cNvSpPr>
          <p:nvPr/>
        </p:nvSpPr>
        <p:spPr>
          <a:xfrm>
            <a:off x="6457950" y="2724150"/>
            <a:ext cx="361950" cy="36195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FE8DC9-8BFB-4EC5-B5BF-485ABD0AF3BA}"/>
              </a:ext>
            </a:extLst>
          </p:cNvPr>
          <p:cNvSpPr>
            <a:spLocks noGrp="1"/>
          </p:cNvSpPr>
          <p:nvPr/>
        </p:nvSpPr>
        <p:spPr>
          <a:xfrm>
            <a:off x="6457950" y="28003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B788F7-32C9-407D-AB78-C18EC9FD140E}"/>
              </a:ext>
            </a:extLst>
          </p:cNvPr>
          <p:cNvSpPr>
            <a:spLocks noGrp="1"/>
          </p:cNvSpPr>
          <p:nvPr/>
        </p:nvSpPr>
        <p:spPr>
          <a:xfrm>
            <a:off x="6457950" y="31813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Split 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9186F08-F8E3-4616-A69F-AE8B65454700}"/>
              </a:ext>
            </a:extLst>
          </p:cNvPr>
          <p:cNvSpPr>
            <a:spLocks noGrp="1"/>
          </p:cNvSpPr>
          <p:nvPr/>
        </p:nvSpPr>
        <p:spPr>
          <a:xfrm>
            <a:off x="6457950" y="35623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80% train, 20% test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275815C-59F9-40E9-B8C6-94C686CBC57D}"/>
              </a:ext>
            </a:extLst>
          </p:cNvPr>
          <p:cNvSpPr>
            <a:spLocks noGrp="1"/>
          </p:cNvSpPr>
          <p:nvPr/>
        </p:nvSpPr>
        <p:spPr>
          <a:xfrm>
            <a:off x="7829550" y="3409950"/>
            <a:ext cx="5334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118C2E5B-2283-4EAA-A60E-AC9736704033}"/>
              </a:ext>
            </a:extLst>
          </p:cNvPr>
          <p:cNvSpPr>
            <a:spLocks noGrp="1"/>
          </p:cNvSpPr>
          <p:nvPr/>
        </p:nvSpPr>
        <p:spPr>
          <a:xfrm>
            <a:off x="8305800" y="3352800"/>
            <a:ext cx="114300" cy="114300"/>
          </a:xfrm>
          <a:prstGeom prst="triangl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317C52-B993-4A29-BF2B-C26BF27444BE}"/>
              </a:ext>
            </a:extLst>
          </p:cNvPr>
          <p:cNvSpPr>
            <a:spLocks noGrp="1"/>
          </p:cNvSpPr>
          <p:nvPr/>
        </p:nvSpPr>
        <p:spPr>
          <a:xfrm>
            <a:off x="8153400" y="2914650"/>
            <a:ext cx="14859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4955CF8-0C1D-445B-94FD-BBFC9EA86DCB}"/>
              </a:ext>
            </a:extLst>
          </p:cNvPr>
          <p:cNvSpPr>
            <a:spLocks noGrp="1"/>
          </p:cNvSpPr>
          <p:nvPr/>
        </p:nvSpPr>
        <p:spPr>
          <a:xfrm>
            <a:off x="8324850" y="2724150"/>
            <a:ext cx="361950" cy="36195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1D330E8-A2A6-4EAB-9EBB-FED529297AB3}"/>
              </a:ext>
            </a:extLst>
          </p:cNvPr>
          <p:cNvSpPr>
            <a:spLocks noGrp="1"/>
          </p:cNvSpPr>
          <p:nvPr/>
        </p:nvSpPr>
        <p:spPr>
          <a:xfrm>
            <a:off x="8324850" y="28003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BE0EB13-165E-439E-8EAE-17FDA5A72514}"/>
              </a:ext>
            </a:extLst>
          </p:cNvPr>
          <p:cNvSpPr>
            <a:spLocks noGrp="1"/>
          </p:cNvSpPr>
          <p:nvPr/>
        </p:nvSpPr>
        <p:spPr>
          <a:xfrm>
            <a:off x="8324850" y="31813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Train models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BDCF2D-F1C4-4561-B47A-3D46E1E1607B}"/>
              </a:ext>
            </a:extLst>
          </p:cNvPr>
          <p:cNvSpPr>
            <a:spLocks noGrp="1"/>
          </p:cNvSpPr>
          <p:nvPr/>
        </p:nvSpPr>
        <p:spPr>
          <a:xfrm>
            <a:off x="8324850" y="35623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DT + RF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2A64F14-827F-44CD-9EF9-1C51C401A00B}"/>
              </a:ext>
            </a:extLst>
          </p:cNvPr>
          <p:cNvSpPr>
            <a:spLocks noGrp="1"/>
          </p:cNvSpPr>
          <p:nvPr/>
        </p:nvSpPr>
        <p:spPr>
          <a:xfrm>
            <a:off x="9696450" y="3409950"/>
            <a:ext cx="5334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44F2FDE1-5BE3-4288-BC17-47B2BFECDF4D}"/>
              </a:ext>
            </a:extLst>
          </p:cNvPr>
          <p:cNvSpPr>
            <a:spLocks noGrp="1"/>
          </p:cNvSpPr>
          <p:nvPr/>
        </p:nvSpPr>
        <p:spPr>
          <a:xfrm>
            <a:off x="10172700" y="3352800"/>
            <a:ext cx="114300" cy="114300"/>
          </a:xfrm>
          <a:prstGeom prst="triangl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D41AA85-EFD8-46E5-A8A7-FAC861C9CD42}"/>
              </a:ext>
            </a:extLst>
          </p:cNvPr>
          <p:cNvSpPr>
            <a:spLocks noGrp="1"/>
          </p:cNvSpPr>
          <p:nvPr/>
        </p:nvSpPr>
        <p:spPr>
          <a:xfrm>
            <a:off x="10020300" y="2914650"/>
            <a:ext cx="14859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1952D19-C9AD-41D5-93EA-D9C250B6C0E0}"/>
              </a:ext>
            </a:extLst>
          </p:cNvPr>
          <p:cNvSpPr>
            <a:spLocks noGrp="1"/>
          </p:cNvSpPr>
          <p:nvPr/>
        </p:nvSpPr>
        <p:spPr>
          <a:xfrm>
            <a:off x="10191750" y="2724150"/>
            <a:ext cx="361950" cy="36195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2DBBD4B-1014-4ABA-9F58-04426617AA2E}"/>
              </a:ext>
            </a:extLst>
          </p:cNvPr>
          <p:cNvSpPr>
            <a:spLocks noGrp="1"/>
          </p:cNvSpPr>
          <p:nvPr/>
        </p:nvSpPr>
        <p:spPr>
          <a:xfrm>
            <a:off x="10191750" y="28003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F4A76F7-6E9F-45DB-934F-0C4B9ED1A85E}"/>
              </a:ext>
            </a:extLst>
          </p:cNvPr>
          <p:cNvSpPr>
            <a:spLocks noGrp="1"/>
          </p:cNvSpPr>
          <p:nvPr/>
        </p:nvSpPr>
        <p:spPr>
          <a:xfrm>
            <a:off x="10191750" y="31813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DC4CE33-0B54-4D95-9D7B-9AF3D1179546}"/>
              </a:ext>
            </a:extLst>
          </p:cNvPr>
          <p:cNvSpPr>
            <a:spLocks noGrp="1"/>
          </p:cNvSpPr>
          <p:nvPr/>
        </p:nvSpPr>
        <p:spPr>
          <a:xfrm>
            <a:off x="10191750" y="35623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accuracy + matrix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86D5FAA-8F71-4CBE-8D99-104AAF1DE4C0}"/>
              </a:ext>
            </a:extLst>
          </p:cNvPr>
          <p:cNvSpPr>
            <a:spLocks noGrp="1"/>
          </p:cNvSpPr>
          <p:nvPr/>
        </p:nvSpPr>
        <p:spPr>
          <a:xfrm>
            <a:off x="1428750" y="4800600"/>
            <a:ext cx="9144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950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same train/test split was used for both models, so the comparison is fair.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96EDE9B-2FA4-40B2-BFF2-1F6969E2E759}"/>
              </a:ext>
            </a:extLst>
          </p:cNvPr>
          <p:cNvSpPr>
            <a:spLocks noGrp="1"/>
          </p:cNvSpPr>
          <p:nvPr/>
        </p:nvSpPr>
        <p:spPr>
          <a:xfrm>
            <a:off x="1047750" y="6438900"/>
            <a:ext cx="742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Models used: Decision Tree Classifier and Random Forest Classifier.</a:t>
            </a:r>
          </a:p>
        </p:txBody>
      </p:sp>
    </p:spTree>
    <p:extLst>
      <p:ext uri="{BB962C8B-B14F-4D97-AF65-F5344CB8AC3E}">
        <p14:creationId xmlns:p14="http://schemas.microsoft.com/office/powerpoint/2010/main" val="366541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B48FB670-3EAF-4EC8-BD5C-C8D92C52E0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5F8D0F-469A-45A9-93B4-CDB58CFDF8B4}"/>
              </a:ext>
            </a:extLst>
          </p:cNvPr>
          <p:cNvSpPr>
            <a:spLocks noGrp="1"/>
          </p:cNvSpPr>
          <p:nvPr/>
        </p:nvSpPr>
        <p:spPr>
          <a:xfrm>
            <a:off x="10620375" y="64389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E55DC6-5ED2-4794-A6DC-0B39C2565F34}"/>
              </a:ext>
            </a:extLst>
          </p:cNvPr>
          <p:cNvSpPr>
            <a:spLocks noGrp="1"/>
          </p:cNvSpPr>
          <p:nvPr/>
        </p:nvSpPr>
        <p:spPr>
          <a:xfrm>
            <a:off x="1047750" y="6286500"/>
            <a:ext cx="10096500" cy="1143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96921D-D62A-4DEE-938C-422D1BFB9937}"/>
              </a:ext>
            </a:extLst>
          </p:cNvPr>
          <p:cNvSpPr>
            <a:spLocks noGrp="1"/>
          </p:cNvSpPr>
          <p:nvPr/>
        </p:nvSpPr>
        <p:spPr>
          <a:xfrm>
            <a:off x="1047750" y="685800"/>
            <a:ext cx="80962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Decision Tree achieved 88.46% accuracy on the test set.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B1F403-090C-40D5-AE88-4B2CFD8F8269}"/>
              </a:ext>
            </a:extLst>
          </p:cNvPr>
          <p:cNvSpPr>
            <a:spLocks noGrp="1"/>
          </p:cNvSpPr>
          <p:nvPr/>
        </p:nvSpPr>
        <p:spPr>
          <a:xfrm>
            <a:off x="1066800" y="1752600"/>
            <a:ext cx="7810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model predicted pass students well, but fail cases were harder because they were fewer.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5C40A4-D305-448A-B96E-31B4F5E28E83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2095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6206F3-9478-405E-9F67-B23EFE44DA98}"/>
              </a:ext>
            </a:extLst>
          </p:cNvPr>
          <p:cNvSpPr>
            <a:spLocks noGrp="1"/>
          </p:cNvSpPr>
          <p:nvPr/>
        </p:nvSpPr>
        <p:spPr>
          <a:xfrm>
            <a:off x="1219200" y="2419350"/>
            <a:ext cx="1752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2B6D5-B78D-4420-92AC-A169E6227C8E}"/>
              </a:ext>
            </a:extLst>
          </p:cNvPr>
          <p:cNvSpPr>
            <a:spLocks noGrp="1"/>
          </p:cNvSpPr>
          <p:nvPr/>
        </p:nvSpPr>
        <p:spPr>
          <a:xfrm>
            <a:off x="1219200" y="2667000"/>
            <a:ext cx="1752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88.46%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ECF716-EE6A-44DE-81CB-97AC60EA7FEB}"/>
              </a:ext>
            </a:extLst>
          </p:cNvPr>
          <p:cNvSpPr>
            <a:spLocks noGrp="1"/>
          </p:cNvSpPr>
          <p:nvPr/>
        </p:nvSpPr>
        <p:spPr>
          <a:xfrm>
            <a:off x="1047750" y="3390900"/>
            <a:ext cx="2095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AA3664-223A-4709-9E2B-018C85CCE51A}"/>
              </a:ext>
            </a:extLst>
          </p:cNvPr>
          <p:cNvSpPr>
            <a:spLocks noGrp="1"/>
          </p:cNvSpPr>
          <p:nvPr/>
        </p:nvSpPr>
        <p:spPr>
          <a:xfrm>
            <a:off x="1219200" y="3543300"/>
            <a:ext cx="1752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Test rows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7638F6-B742-4DE5-93BF-C663E955FB5F}"/>
              </a:ext>
            </a:extLst>
          </p:cNvPr>
          <p:cNvSpPr>
            <a:spLocks noGrp="1"/>
          </p:cNvSpPr>
          <p:nvPr/>
        </p:nvSpPr>
        <p:spPr>
          <a:xfrm>
            <a:off x="1219200" y="3790950"/>
            <a:ext cx="1752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130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FCE4E-FE5F-44EE-80B0-23E03DFF4376}"/>
              </a:ext>
            </a:extLst>
          </p:cNvPr>
          <p:cNvSpPr>
            <a:spLocks noGrp="1"/>
          </p:cNvSpPr>
          <p:nvPr/>
        </p:nvSpPr>
        <p:spPr>
          <a:xfrm>
            <a:off x="4191000" y="2238375"/>
            <a:ext cx="428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Confusion matrix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C00D1-D42F-4852-A59A-F5FBB7704699}"/>
              </a:ext>
            </a:extLst>
          </p:cNvPr>
          <p:cNvSpPr>
            <a:spLocks noGrp="1"/>
          </p:cNvSpPr>
          <p:nvPr/>
        </p:nvSpPr>
        <p:spPr>
          <a:xfrm>
            <a:off x="4191000" y="2705100"/>
            <a:ext cx="1028700" cy="1028700"/>
          </a:xfrm>
          <a:prstGeom prst="rect">
            <a:avLst/>
          </a:prstGeom>
          <a:solidFill>
            <a:srgbClr val="E2E8F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05BFC-613C-47D8-9FB3-FFFF2D28EE56}"/>
              </a:ext>
            </a:extLst>
          </p:cNvPr>
          <p:cNvSpPr>
            <a:spLocks noGrp="1"/>
          </p:cNvSpPr>
          <p:nvPr/>
        </p:nvSpPr>
        <p:spPr>
          <a:xfrm>
            <a:off x="4267200" y="3067050"/>
            <a:ext cx="876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91A40F-B625-45F6-9303-78A0E44698DF}"/>
              </a:ext>
            </a:extLst>
          </p:cNvPr>
          <p:cNvSpPr>
            <a:spLocks noGrp="1"/>
          </p:cNvSpPr>
          <p:nvPr/>
        </p:nvSpPr>
        <p:spPr>
          <a:xfrm>
            <a:off x="5219700" y="2705100"/>
            <a:ext cx="1028700" cy="1028700"/>
          </a:xfrm>
          <a:prstGeom prst="rect">
            <a:avLst/>
          </a:prstGeom>
          <a:solidFill>
            <a:srgbClr val="E2E8F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9730C7-8C6C-42A2-8682-A7CE5B1DBC07}"/>
              </a:ext>
            </a:extLst>
          </p:cNvPr>
          <p:cNvSpPr>
            <a:spLocks noGrp="1"/>
          </p:cNvSpPr>
          <p:nvPr/>
        </p:nvSpPr>
        <p:spPr>
          <a:xfrm>
            <a:off x="5295900" y="3067050"/>
            <a:ext cx="876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Pred Fail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5E14AE-6F5B-4896-95D2-432431A990EA}"/>
              </a:ext>
            </a:extLst>
          </p:cNvPr>
          <p:cNvSpPr>
            <a:spLocks noGrp="1"/>
          </p:cNvSpPr>
          <p:nvPr/>
        </p:nvSpPr>
        <p:spPr>
          <a:xfrm>
            <a:off x="6248400" y="2705100"/>
            <a:ext cx="1028700" cy="1028700"/>
          </a:xfrm>
          <a:prstGeom prst="rect">
            <a:avLst/>
          </a:prstGeom>
          <a:solidFill>
            <a:srgbClr val="E2E8F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35F199-BE4D-4B87-9EC7-E8DD338C2172}"/>
              </a:ext>
            </a:extLst>
          </p:cNvPr>
          <p:cNvSpPr>
            <a:spLocks noGrp="1"/>
          </p:cNvSpPr>
          <p:nvPr/>
        </p:nvSpPr>
        <p:spPr>
          <a:xfrm>
            <a:off x="6324600" y="3067050"/>
            <a:ext cx="876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Pred Pass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CC4839-35CF-40AD-99F8-F1A855884AAE}"/>
              </a:ext>
            </a:extLst>
          </p:cNvPr>
          <p:cNvSpPr>
            <a:spLocks noGrp="1"/>
          </p:cNvSpPr>
          <p:nvPr/>
        </p:nvSpPr>
        <p:spPr>
          <a:xfrm>
            <a:off x="4191000" y="3733800"/>
            <a:ext cx="1028700" cy="1028700"/>
          </a:xfrm>
          <a:prstGeom prst="rect">
            <a:avLst/>
          </a:prstGeom>
          <a:solidFill>
            <a:srgbClr val="E2E8F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709B9F-CEBB-43E3-B83A-D07475E1460A}"/>
              </a:ext>
            </a:extLst>
          </p:cNvPr>
          <p:cNvSpPr>
            <a:spLocks noGrp="1"/>
          </p:cNvSpPr>
          <p:nvPr/>
        </p:nvSpPr>
        <p:spPr>
          <a:xfrm>
            <a:off x="4267200" y="4095750"/>
            <a:ext cx="876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Actual Fail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99CB9C-4F8B-48C2-80F3-AEFD96F15764}"/>
              </a:ext>
            </a:extLst>
          </p:cNvPr>
          <p:cNvSpPr>
            <a:spLocks noGrp="1"/>
          </p:cNvSpPr>
          <p:nvPr/>
        </p:nvSpPr>
        <p:spPr>
          <a:xfrm>
            <a:off x="5219700" y="3733800"/>
            <a:ext cx="1028700" cy="1028700"/>
          </a:xfrm>
          <a:prstGeom prst="rect">
            <a:avLst/>
          </a:prstGeom>
          <a:solidFill>
            <a:srgbClr val="DCFCE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D8E61F-5DF4-4C66-995F-7B8EB3824FE4}"/>
              </a:ext>
            </a:extLst>
          </p:cNvPr>
          <p:cNvSpPr>
            <a:spLocks noGrp="1"/>
          </p:cNvSpPr>
          <p:nvPr/>
        </p:nvSpPr>
        <p:spPr>
          <a:xfrm>
            <a:off x="5295900" y="4019550"/>
            <a:ext cx="876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EC01FB-80E9-45F3-8C2D-66005B9A0952}"/>
              </a:ext>
            </a:extLst>
          </p:cNvPr>
          <p:cNvSpPr>
            <a:spLocks noGrp="1"/>
          </p:cNvSpPr>
          <p:nvPr/>
        </p:nvSpPr>
        <p:spPr>
          <a:xfrm>
            <a:off x="6248400" y="3733800"/>
            <a:ext cx="1028700" cy="1028700"/>
          </a:xfrm>
          <a:prstGeom prst="rect">
            <a:avLst/>
          </a:prstGeom>
          <a:solidFill>
            <a:srgbClr val="FEE2E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F740F4-06DB-4495-B6F5-A85EDC1623C3}"/>
              </a:ext>
            </a:extLst>
          </p:cNvPr>
          <p:cNvSpPr>
            <a:spLocks noGrp="1"/>
          </p:cNvSpPr>
          <p:nvPr/>
        </p:nvSpPr>
        <p:spPr>
          <a:xfrm>
            <a:off x="6324600" y="4019550"/>
            <a:ext cx="876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EE3F63-C2E3-4B6D-B2B2-CC38163354C7}"/>
              </a:ext>
            </a:extLst>
          </p:cNvPr>
          <p:cNvSpPr>
            <a:spLocks noGrp="1"/>
          </p:cNvSpPr>
          <p:nvPr/>
        </p:nvSpPr>
        <p:spPr>
          <a:xfrm>
            <a:off x="4191000" y="4762500"/>
            <a:ext cx="1028700" cy="1028700"/>
          </a:xfrm>
          <a:prstGeom prst="rect">
            <a:avLst/>
          </a:prstGeom>
          <a:solidFill>
            <a:srgbClr val="E2E8F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4F98CE-F141-417B-AE11-E69A6CF13DA5}"/>
              </a:ext>
            </a:extLst>
          </p:cNvPr>
          <p:cNvSpPr>
            <a:spLocks noGrp="1"/>
          </p:cNvSpPr>
          <p:nvPr/>
        </p:nvSpPr>
        <p:spPr>
          <a:xfrm>
            <a:off x="4267200" y="5124450"/>
            <a:ext cx="876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Actual Pass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5C9680-9E69-4C93-9570-EC96ADBCF173}"/>
              </a:ext>
            </a:extLst>
          </p:cNvPr>
          <p:cNvSpPr>
            <a:spLocks noGrp="1"/>
          </p:cNvSpPr>
          <p:nvPr/>
        </p:nvSpPr>
        <p:spPr>
          <a:xfrm>
            <a:off x="5219700" y="4762500"/>
            <a:ext cx="1028700" cy="1028700"/>
          </a:xfrm>
          <a:prstGeom prst="rect">
            <a:avLst/>
          </a:prstGeom>
          <a:solidFill>
            <a:srgbClr val="FEE2E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0470AD9-A8DD-453B-86C6-859DD33791C3}"/>
              </a:ext>
            </a:extLst>
          </p:cNvPr>
          <p:cNvSpPr>
            <a:spLocks noGrp="1"/>
          </p:cNvSpPr>
          <p:nvPr/>
        </p:nvSpPr>
        <p:spPr>
          <a:xfrm>
            <a:off x="5295900" y="5048250"/>
            <a:ext cx="876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173E1E-A990-433E-918E-F9291CCBA458}"/>
              </a:ext>
            </a:extLst>
          </p:cNvPr>
          <p:cNvSpPr>
            <a:spLocks noGrp="1"/>
          </p:cNvSpPr>
          <p:nvPr/>
        </p:nvSpPr>
        <p:spPr>
          <a:xfrm>
            <a:off x="6248400" y="4762500"/>
            <a:ext cx="1028700" cy="1028700"/>
          </a:xfrm>
          <a:prstGeom prst="rect">
            <a:avLst/>
          </a:prstGeom>
          <a:solidFill>
            <a:srgbClr val="DCFCE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931DC1-2E40-4AEC-9AA4-26F64176361B}"/>
              </a:ext>
            </a:extLst>
          </p:cNvPr>
          <p:cNvSpPr>
            <a:spLocks noGrp="1"/>
          </p:cNvSpPr>
          <p:nvPr/>
        </p:nvSpPr>
        <p:spPr>
          <a:xfrm>
            <a:off x="6324600" y="5048250"/>
            <a:ext cx="876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103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C47EC71-C412-4A8F-AF35-C98045638894}"/>
              </a:ext>
            </a:extLst>
          </p:cNvPr>
          <p:cNvSpPr>
            <a:spLocks noGrp="1"/>
          </p:cNvSpPr>
          <p:nvPr/>
        </p:nvSpPr>
        <p:spPr>
          <a:xfrm>
            <a:off x="8096250" y="3105150"/>
            <a:ext cx="2476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Correct predictions are on the diagonal: 12 fail and 103 pass.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7735F08-2BCD-4B2E-8BFA-E90903ADB8A8}"/>
              </a:ext>
            </a:extLst>
          </p:cNvPr>
          <p:cNvSpPr>
            <a:spLocks noGrp="1"/>
          </p:cNvSpPr>
          <p:nvPr/>
        </p:nvSpPr>
        <p:spPr>
          <a:xfrm>
            <a:off x="8096250" y="4057650"/>
            <a:ext cx="2476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model made 15 total mistakes: 8 false passes and 7 false fails.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B99276D-7255-49AD-8D53-CFE8D1259971}"/>
              </a:ext>
            </a:extLst>
          </p:cNvPr>
          <p:cNvSpPr>
            <a:spLocks noGrp="1"/>
          </p:cNvSpPr>
          <p:nvPr/>
        </p:nvSpPr>
        <p:spPr>
          <a:xfrm>
            <a:off x="1047750" y="6438900"/>
            <a:ext cx="742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Evaluation metrics from the Colab notebook.</a:t>
            </a:r>
          </a:p>
        </p:txBody>
      </p:sp>
    </p:spTree>
    <p:extLst>
      <p:ext uri="{BB962C8B-B14F-4D97-AF65-F5344CB8AC3E}">
        <p14:creationId xmlns:p14="http://schemas.microsoft.com/office/powerpoint/2010/main" val="1012439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58F8585-990C-4D8D-B380-FFEE9905C7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2B3E78-6026-4FCF-B439-7552463E4598}"/>
              </a:ext>
            </a:extLst>
          </p:cNvPr>
          <p:cNvSpPr>
            <a:spLocks noGrp="1"/>
          </p:cNvSpPr>
          <p:nvPr/>
        </p:nvSpPr>
        <p:spPr>
          <a:xfrm>
            <a:off x="10620375" y="64389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67F113-97C9-4931-8963-81F868E3994B}"/>
              </a:ext>
            </a:extLst>
          </p:cNvPr>
          <p:cNvSpPr>
            <a:spLocks noGrp="1"/>
          </p:cNvSpPr>
          <p:nvPr/>
        </p:nvSpPr>
        <p:spPr>
          <a:xfrm>
            <a:off x="1047750" y="6286500"/>
            <a:ext cx="10096500" cy="1143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830285-D505-4871-8274-E1D875B404C6}"/>
              </a:ext>
            </a:extLst>
          </p:cNvPr>
          <p:cNvSpPr>
            <a:spLocks noGrp="1"/>
          </p:cNvSpPr>
          <p:nvPr/>
        </p:nvSpPr>
        <p:spPr>
          <a:xfrm>
            <a:off x="1047750" y="685800"/>
            <a:ext cx="80962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Random Forest produced the best accuracy.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CFB15C-CCD2-4592-B4EF-5A358F84E26F}"/>
              </a:ext>
            </a:extLst>
          </p:cNvPr>
          <p:cNvSpPr>
            <a:spLocks noGrp="1"/>
          </p:cNvSpPr>
          <p:nvPr/>
        </p:nvSpPr>
        <p:spPr>
          <a:xfrm>
            <a:off x="1066800" y="1752600"/>
            <a:ext cx="7810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Using many trees together improved performance compared with a single Decision Tree.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F2184A-8C87-454F-B2B2-5A3A31919AC8}"/>
              </a:ext>
            </a:extLst>
          </p:cNvPr>
          <p:cNvSpPr>
            <a:spLocks noGrp="1"/>
          </p:cNvSpPr>
          <p:nvPr/>
        </p:nvSpPr>
        <p:spPr>
          <a:xfrm>
            <a:off x="2095500" y="5191125"/>
            <a:ext cx="6477000" cy="1905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AE47D2-F678-4CD4-9972-36E84F600A47}"/>
              </a:ext>
            </a:extLst>
          </p:cNvPr>
          <p:cNvSpPr>
            <a:spLocks noGrp="1"/>
          </p:cNvSpPr>
          <p:nvPr/>
        </p:nvSpPr>
        <p:spPr>
          <a:xfrm>
            <a:off x="3333750" y="3084671"/>
            <a:ext cx="1381125" cy="2106454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33BF0B-2931-4CED-B11B-7FCB732676E7}"/>
              </a:ext>
            </a:extLst>
          </p:cNvPr>
          <p:cNvSpPr>
            <a:spLocks noGrp="1"/>
          </p:cNvSpPr>
          <p:nvPr/>
        </p:nvSpPr>
        <p:spPr>
          <a:xfrm>
            <a:off x="3190875" y="2722721"/>
            <a:ext cx="16668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88.46%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32E181-D685-4DF5-8103-3DDB8BA4B244}"/>
              </a:ext>
            </a:extLst>
          </p:cNvPr>
          <p:cNvSpPr>
            <a:spLocks noGrp="1"/>
          </p:cNvSpPr>
          <p:nvPr/>
        </p:nvSpPr>
        <p:spPr>
          <a:xfrm>
            <a:off x="3143250" y="5362575"/>
            <a:ext cx="1762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Decision Tree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56AE9B-0D2A-47A5-A7F5-8C20FF1D0724}"/>
              </a:ext>
            </a:extLst>
          </p:cNvPr>
          <p:cNvSpPr>
            <a:spLocks noGrp="1"/>
          </p:cNvSpPr>
          <p:nvPr/>
        </p:nvSpPr>
        <p:spPr>
          <a:xfrm>
            <a:off x="5810250" y="3029664"/>
            <a:ext cx="1381125" cy="2161461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EBE753-B9E1-420A-A795-38605FE62EED}"/>
              </a:ext>
            </a:extLst>
          </p:cNvPr>
          <p:cNvSpPr>
            <a:spLocks noGrp="1"/>
          </p:cNvSpPr>
          <p:nvPr/>
        </p:nvSpPr>
        <p:spPr>
          <a:xfrm>
            <a:off x="5667375" y="2667714"/>
            <a:ext cx="16668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90.77%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ED9F2A-A443-4FBF-B07B-18C35C78449D}"/>
              </a:ext>
            </a:extLst>
          </p:cNvPr>
          <p:cNvSpPr>
            <a:spLocks noGrp="1"/>
          </p:cNvSpPr>
          <p:nvPr/>
        </p:nvSpPr>
        <p:spPr>
          <a:xfrm>
            <a:off x="5619750" y="5362575"/>
            <a:ext cx="1762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37CD48-CAAC-4C0C-821B-74BC4B9CD89E}"/>
              </a:ext>
            </a:extLst>
          </p:cNvPr>
          <p:cNvSpPr>
            <a:spLocks noGrp="1"/>
          </p:cNvSpPr>
          <p:nvPr/>
        </p:nvSpPr>
        <p:spPr>
          <a:xfrm>
            <a:off x="8858250" y="3028950"/>
            <a:ext cx="20955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1777F4-4900-4C62-ACCD-86D0555E312D}"/>
              </a:ext>
            </a:extLst>
          </p:cNvPr>
          <p:cNvSpPr>
            <a:spLocks noGrp="1"/>
          </p:cNvSpPr>
          <p:nvPr/>
        </p:nvSpPr>
        <p:spPr>
          <a:xfrm>
            <a:off x="9086850" y="327660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Improvement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3EEF65-DB3F-4E04-B0EB-007BC4ED1BC2}"/>
              </a:ext>
            </a:extLst>
          </p:cNvPr>
          <p:cNvSpPr>
            <a:spLocks noGrp="1"/>
          </p:cNvSpPr>
          <p:nvPr/>
        </p:nvSpPr>
        <p:spPr>
          <a:xfrm>
            <a:off x="9086850" y="3619500"/>
            <a:ext cx="1638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+2.31 pts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0B88CB-BF11-4E73-8B06-7FAE66FDA5EC}"/>
              </a:ext>
            </a:extLst>
          </p:cNvPr>
          <p:cNvSpPr>
            <a:spLocks noGrp="1"/>
          </p:cNvSpPr>
          <p:nvPr/>
        </p:nvSpPr>
        <p:spPr>
          <a:xfrm>
            <a:off x="1047750" y="6438900"/>
            <a:ext cx="742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Comparison uses the same test set for both models.</a:t>
            </a:r>
          </a:p>
        </p:txBody>
      </p:sp>
    </p:spTree>
    <p:extLst>
      <p:ext uri="{BB962C8B-B14F-4D97-AF65-F5344CB8AC3E}">
        <p14:creationId xmlns:p14="http://schemas.microsoft.com/office/powerpoint/2010/main" val="473172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325A8312-8DFA-45D0-9FE2-574BB59378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A67ED-BB26-4007-AE65-BC7881A0F77E}"/>
              </a:ext>
            </a:extLst>
          </p:cNvPr>
          <p:cNvSpPr>
            <a:spLocks noGrp="1"/>
          </p:cNvSpPr>
          <p:nvPr/>
        </p:nvSpPr>
        <p:spPr>
          <a:xfrm>
            <a:off x="10620375" y="64389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613E8E-C1C7-40F5-A05A-A3401AE407C9}"/>
              </a:ext>
            </a:extLst>
          </p:cNvPr>
          <p:cNvSpPr>
            <a:spLocks noGrp="1"/>
          </p:cNvSpPr>
          <p:nvPr/>
        </p:nvSpPr>
        <p:spPr>
          <a:xfrm>
            <a:off x="1047750" y="6286500"/>
            <a:ext cx="10096500" cy="1143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BAF65B-08DF-45F3-A385-F3C2B26DA97B}"/>
              </a:ext>
            </a:extLst>
          </p:cNvPr>
          <p:cNvSpPr>
            <a:spLocks noGrp="1"/>
          </p:cNvSpPr>
          <p:nvPr/>
        </p:nvSpPr>
        <p:spPr>
          <a:xfrm>
            <a:off x="1047750" y="685800"/>
            <a:ext cx="80962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Previous grades were the strongest predictors of final performance.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4739F5-44A0-42DC-8ED7-918EC9FF59CC}"/>
              </a:ext>
            </a:extLst>
          </p:cNvPr>
          <p:cNvSpPr>
            <a:spLocks noGrp="1"/>
          </p:cNvSpPr>
          <p:nvPr/>
        </p:nvSpPr>
        <p:spPr>
          <a:xfrm>
            <a:off x="1066800" y="1752600"/>
            <a:ext cx="7810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Feature importance shows that G2 and G1 carried most of the model signal.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5B0F96-3F9E-48E8-8B84-308280CBB00F}"/>
              </a:ext>
            </a:extLst>
          </p:cNvPr>
          <p:cNvSpPr>
            <a:spLocks noGrp="1"/>
          </p:cNvSpPr>
          <p:nvPr/>
        </p:nvSpPr>
        <p:spPr>
          <a:xfrm>
            <a:off x="1428750" y="22288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G2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FF4152-F618-4395-90C0-E8B248834392}"/>
              </a:ext>
            </a:extLst>
          </p:cNvPr>
          <p:cNvSpPr>
            <a:spLocks noGrp="1"/>
          </p:cNvSpPr>
          <p:nvPr/>
        </p:nvSpPr>
        <p:spPr>
          <a:xfrm>
            <a:off x="3429000" y="2247900"/>
            <a:ext cx="6381750" cy="20955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8B1EC9-4781-40AD-9F85-9DF1B95D09B5}"/>
              </a:ext>
            </a:extLst>
          </p:cNvPr>
          <p:cNvSpPr>
            <a:spLocks noGrp="1"/>
          </p:cNvSpPr>
          <p:nvPr/>
        </p:nvSpPr>
        <p:spPr>
          <a:xfrm>
            <a:off x="3429000" y="2247900"/>
            <a:ext cx="6381750" cy="2095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DC6FAD-2C69-4982-8CA4-DD2B3DFACC18}"/>
              </a:ext>
            </a:extLst>
          </p:cNvPr>
          <p:cNvSpPr>
            <a:spLocks noGrp="1"/>
          </p:cNvSpPr>
          <p:nvPr/>
        </p:nvSpPr>
        <p:spPr>
          <a:xfrm>
            <a:off x="9906000" y="2238375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0.650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C7491C-7CA3-43A0-862E-FCDE2C3BE2AE}"/>
              </a:ext>
            </a:extLst>
          </p:cNvPr>
          <p:cNvSpPr>
            <a:spLocks noGrp="1"/>
          </p:cNvSpPr>
          <p:nvPr/>
        </p:nvSpPr>
        <p:spPr>
          <a:xfrm>
            <a:off x="1428750" y="25812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G1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93FE5-271E-40D7-BF6F-FE27809F9FD9}"/>
              </a:ext>
            </a:extLst>
          </p:cNvPr>
          <p:cNvSpPr>
            <a:spLocks noGrp="1"/>
          </p:cNvSpPr>
          <p:nvPr/>
        </p:nvSpPr>
        <p:spPr>
          <a:xfrm>
            <a:off x="3429000" y="2600325"/>
            <a:ext cx="6381750" cy="20955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4C2180-C6BE-4A04-9B63-CAE884E0CB5D}"/>
              </a:ext>
            </a:extLst>
          </p:cNvPr>
          <p:cNvSpPr>
            <a:spLocks noGrp="1"/>
          </p:cNvSpPr>
          <p:nvPr/>
        </p:nvSpPr>
        <p:spPr>
          <a:xfrm>
            <a:off x="3429000" y="2600325"/>
            <a:ext cx="1227260" cy="2095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FE6FE1-7D07-4940-8EC4-FD1D5184ADAE}"/>
              </a:ext>
            </a:extLst>
          </p:cNvPr>
          <p:cNvSpPr>
            <a:spLocks noGrp="1"/>
          </p:cNvSpPr>
          <p:nvPr/>
        </p:nvSpPr>
        <p:spPr>
          <a:xfrm>
            <a:off x="4751510" y="259080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0.125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7CA9ED-B6D3-4F6C-9F09-D8375170CD41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freetime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C46B7B-F337-4346-9B28-BB40608949C6}"/>
              </a:ext>
            </a:extLst>
          </p:cNvPr>
          <p:cNvSpPr>
            <a:spLocks noGrp="1"/>
          </p:cNvSpPr>
          <p:nvPr/>
        </p:nvSpPr>
        <p:spPr>
          <a:xfrm>
            <a:off x="3429000" y="2952750"/>
            <a:ext cx="6381750" cy="20955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52532A-F9FF-4F07-BCDE-2EE8A78640CB}"/>
              </a:ext>
            </a:extLst>
          </p:cNvPr>
          <p:cNvSpPr>
            <a:spLocks noGrp="1"/>
          </p:cNvSpPr>
          <p:nvPr/>
        </p:nvSpPr>
        <p:spPr>
          <a:xfrm>
            <a:off x="3429000" y="2952750"/>
            <a:ext cx="274906" cy="2095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539A6E-23F3-4749-B1F2-40992F9B5902}"/>
              </a:ext>
            </a:extLst>
          </p:cNvPr>
          <p:cNvSpPr>
            <a:spLocks noGrp="1"/>
          </p:cNvSpPr>
          <p:nvPr/>
        </p:nvSpPr>
        <p:spPr>
          <a:xfrm>
            <a:off x="3799156" y="2943225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0.028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BA9A0B-A2A9-4E97-903C-0CB3C21BB8CC}"/>
              </a:ext>
            </a:extLst>
          </p:cNvPr>
          <p:cNvSpPr>
            <a:spLocks noGrp="1"/>
          </p:cNvSpPr>
          <p:nvPr/>
        </p:nvSpPr>
        <p:spPr>
          <a:xfrm>
            <a:off x="1428750" y="328612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goout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50C89B-E675-448D-B64C-99DC48314601}"/>
              </a:ext>
            </a:extLst>
          </p:cNvPr>
          <p:cNvSpPr>
            <a:spLocks noGrp="1"/>
          </p:cNvSpPr>
          <p:nvPr/>
        </p:nvSpPr>
        <p:spPr>
          <a:xfrm>
            <a:off x="3429000" y="3305175"/>
            <a:ext cx="6381750" cy="20955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A8DF1D-F1FA-4EE2-89C0-9330B192395B}"/>
              </a:ext>
            </a:extLst>
          </p:cNvPr>
          <p:cNvSpPr>
            <a:spLocks noGrp="1"/>
          </p:cNvSpPr>
          <p:nvPr/>
        </p:nvSpPr>
        <p:spPr>
          <a:xfrm>
            <a:off x="3429000" y="3305175"/>
            <a:ext cx="265088" cy="2095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BFE526-F0C3-4317-9D52-7745C7641070}"/>
              </a:ext>
            </a:extLst>
          </p:cNvPr>
          <p:cNvSpPr>
            <a:spLocks noGrp="1"/>
          </p:cNvSpPr>
          <p:nvPr/>
        </p:nvSpPr>
        <p:spPr>
          <a:xfrm>
            <a:off x="3789338" y="32956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0.027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FE1F0A-9768-46B1-A4A8-CD57B386A5B2}"/>
              </a:ext>
            </a:extLst>
          </p:cNvPr>
          <p:cNvSpPr>
            <a:spLocks noGrp="1"/>
          </p:cNvSpPr>
          <p:nvPr/>
        </p:nvSpPr>
        <p:spPr>
          <a:xfrm>
            <a:off x="1428750" y="36385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reason_reputation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3AA6FD-C6DB-4689-9394-D4FCFDECB7FB}"/>
              </a:ext>
            </a:extLst>
          </p:cNvPr>
          <p:cNvSpPr>
            <a:spLocks noGrp="1"/>
          </p:cNvSpPr>
          <p:nvPr/>
        </p:nvSpPr>
        <p:spPr>
          <a:xfrm>
            <a:off x="3429000" y="3657600"/>
            <a:ext cx="6381750" cy="20955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AA40B9-F5D7-467E-9C61-B11F85F7F29B}"/>
              </a:ext>
            </a:extLst>
          </p:cNvPr>
          <p:cNvSpPr>
            <a:spLocks noGrp="1"/>
          </p:cNvSpPr>
          <p:nvPr/>
        </p:nvSpPr>
        <p:spPr>
          <a:xfrm>
            <a:off x="3429000" y="3657600"/>
            <a:ext cx="255270" cy="2095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4678F1-16BC-4366-B167-EA8727BBE05F}"/>
              </a:ext>
            </a:extLst>
          </p:cNvPr>
          <p:cNvSpPr>
            <a:spLocks noGrp="1"/>
          </p:cNvSpPr>
          <p:nvPr/>
        </p:nvSpPr>
        <p:spPr>
          <a:xfrm>
            <a:off x="3779520" y="3648075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0.026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088C07-06EF-444A-9C7F-DB6CD73DA1CF}"/>
              </a:ext>
            </a:extLst>
          </p:cNvPr>
          <p:cNvSpPr>
            <a:spLocks noGrp="1"/>
          </p:cNvSpPr>
          <p:nvPr/>
        </p:nvSpPr>
        <p:spPr>
          <a:xfrm>
            <a:off x="1428750" y="39909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studytime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CDA555-5C62-424E-983C-4FD3B58671FA}"/>
              </a:ext>
            </a:extLst>
          </p:cNvPr>
          <p:cNvSpPr>
            <a:spLocks noGrp="1"/>
          </p:cNvSpPr>
          <p:nvPr/>
        </p:nvSpPr>
        <p:spPr>
          <a:xfrm>
            <a:off x="3429000" y="4010025"/>
            <a:ext cx="6381750" cy="20955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00F4F1-296B-440B-BB4A-AB355708C356}"/>
              </a:ext>
            </a:extLst>
          </p:cNvPr>
          <p:cNvSpPr>
            <a:spLocks noGrp="1"/>
          </p:cNvSpPr>
          <p:nvPr/>
        </p:nvSpPr>
        <p:spPr>
          <a:xfrm>
            <a:off x="3429000" y="4010025"/>
            <a:ext cx="245452" cy="2095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C972112-5856-4CE2-A14E-8FA9A9F51F1A}"/>
              </a:ext>
            </a:extLst>
          </p:cNvPr>
          <p:cNvSpPr>
            <a:spLocks noGrp="1"/>
          </p:cNvSpPr>
          <p:nvPr/>
        </p:nvSpPr>
        <p:spPr>
          <a:xfrm>
            <a:off x="3769702" y="400050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0.025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6FC132-1E36-4A1E-AA19-88267C0B0C15}"/>
              </a:ext>
            </a:extLst>
          </p:cNvPr>
          <p:cNvSpPr>
            <a:spLocks noGrp="1"/>
          </p:cNvSpPr>
          <p:nvPr/>
        </p:nvSpPr>
        <p:spPr>
          <a:xfrm>
            <a:off x="1428750" y="43434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sex_M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4492A2-7A32-4D2E-BF1C-E871937C736F}"/>
              </a:ext>
            </a:extLst>
          </p:cNvPr>
          <p:cNvSpPr>
            <a:spLocks noGrp="1"/>
          </p:cNvSpPr>
          <p:nvPr/>
        </p:nvSpPr>
        <p:spPr>
          <a:xfrm>
            <a:off x="3429000" y="4362450"/>
            <a:ext cx="6381750" cy="20955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E6935E-2078-474E-9717-C8DE9D4F8E7A}"/>
              </a:ext>
            </a:extLst>
          </p:cNvPr>
          <p:cNvSpPr>
            <a:spLocks noGrp="1"/>
          </p:cNvSpPr>
          <p:nvPr/>
        </p:nvSpPr>
        <p:spPr>
          <a:xfrm>
            <a:off x="3429000" y="4362450"/>
            <a:ext cx="225816" cy="2095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17CE90F-7286-4DAC-9C6C-D81B9D4F971E}"/>
              </a:ext>
            </a:extLst>
          </p:cNvPr>
          <p:cNvSpPr>
            <a:spLocks noGrp="1"/>
          </p:cNvSpPr>
          <p:nvPr/>
        </p:nvSpPr>
        <p:spPr>
          <a:xfrm>
            <a:off x="3750066" y="4352925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0.023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A7BC061-DE01-41E3-B4A0-76CE73A0A529}"/>
              </a:ext>
            </a:extLst>
          </p:cNvPr>
          <p:cNvSpPr>
            <a:spLocks noGrp="1"/>
          </p:cNvSpPr>
          <p:nvPr/>
        </p:nvSpPr>
        <p:spPr>
          <a:xfrm>
            <a:off x="1428750" y="469582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school_MS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749112-C6A3-499C-8EA0-07E43A4683CE}"/>
              </a:ext>
            </a:extLst>
          </p:cNvPr>
          <p:cNvSpPr>
            <a:spLocks noGrp="1"/>
          </p:cNvSpPr>
          <p:nvPr/>
        </p:nvSpPr>
        <p:spPr>
          <a:xfrm>
            <a:off x="3429000" y="4714875"/>
            <a:ext cx="6381750" cy="20955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31C24C-8586-4833-B82E-5932275CBE80}"/>
              </a:ext>
            </a:extLst>
          </p:cNvPr>
          <p:cNvSpPr>
            <a:spLocks noGrp="1"/>
          </p:cNvSpPr>
          <p:nvPr/>
        </p:nvSpPr>
        <p:spPr>
          <a:xfrm>
            <a:off x="3429000" y="4714875"/>
            <a:ext cx="196362" cy="2095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3E68D5F-803D-4526-9B46-97993C33B597}"/>
              </a:ext>
            </a:extLst>
          </p:cNvPr>
          <p:cNvSpPr>
            <a:spLocks noGrp="1"/>
          </p:cNvSpPr>
          <p:nvPr/>
        </p:nvSpPr>
        <p:spPr>
          <a:xfrm>
            <a:off x="3720612" y="47053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0.020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983D51F-AAC0-48C5-81EC-40FD247BDEC1}"/>
              </a:ext>
            </a:extLst>
          </p:cNvPr>
          <p:cNvSpPr>
            <a:spLocks noGrp="1"/>
          </p:cNvSpPr>
          <p:nvPr/>
        </p:nvSpPr>
        <p:spPr>
          <a:xfrm>
            <a:off x="1428750" y="50482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Fedu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8975F23-DE4C-4644-9335-62D87B35FD67}"/>
              </a:ext>
            </a:extLst>
          </p:cNvPr>
          <p:cNvSpPr>
            <a:spLocks noGrp="1"/>
          </p:cNvSpPr>
          <p:nvPr/>
        </p:nvSpPr>
        <p:spPr>
          <a:xfrm>
            <a:off x="3429000" y="5067300"/>
            <a:ext cx="6381750" cy="20955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DEC2142-AEFB-49C7-9F24-2970E3A45B8E}"/>
              </a:ext>
            </a:extLst>
          </p:cNvPr>
          <p:cNvSpPr>
            <a:spLocks noGrp="1"/>
          </p:cNvSpPr>
          <p:nvPr/>
        </p:nvSpPr>
        <p:spPr>
          <a:xfrm>
            <a:off x="3429000" y="5067300"/>
            <a:ext cx="186543" cy="2095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506B3EB-FA9E-4FCD-A1F1-9F9A36A885A2}"/>
              </a:ext>
            </a:extLst>
          </p:cNvPr>
          <p:cNvSpPr>
            <a:spLocks noGrp="1"/>
          </p:cNvSpPr>
          <p:nvPr/>
        </p:nvSpPr>
        <p:spPr>
          <a:xfrm>
            <a:off x="3710793" y="5057775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0.019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4F86A2D-804F-47F9-B938-8E4A35CC9E4C}"/>
              </a:ext>
            </a:extLst>
          </p:cNvPr>
          <p:cNvSpPr>
            <a:spLocks noGrp="1"/>
          </p:cNvSpPr>
          <p:nvPr/>
        </p:nvSpPr>
        <p:spPr>
          <a:xfrm>
            <a:off x="1428750" y="54006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famsize_LE3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10A58D-DFF3-4D3A-A689-81DD9C79D53F}"/>
              </a:ext>
            </a:extLst>
          </p:cNvPr>
          <p:cNvSpPr>
            <a:spLocks noGrp="1"/>
          </p:cNvSpPr>
          <p:nvPr/>
        </p:nvSpPr>
        <p:spPr>
          <a:xfrm>
            <a:off x="3429000" y="5419725"/>
            <a:ext cx="6381750" cy="20955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616402C-1304-4C8A-A247-DAECB37C936F}"/>
              </a:ext>
            </a:extLst>
          </p:cNvPr>
          <p:cNvSpPr>
            <a:spLocks noGrp="1"/>
          </p:cNvSpPr>
          <p:nvPr/>
        </p:nvSpPr>
        <p:spPr>
          <a:xfrm>
            <a:off x="3429000" y="5419725"/>
            <a:ext cx="166907" cy="2095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B737B2E-B74F-4E49-B881-2F36AA4FBB9C}"/>
              </a:ext>
            </a:extLst>
          </p:cNvPr>
          <p:cNvSpPr>
            <a:spLocks noGrp="1"/>
          </p:cNvSpPr>
          <p:nvPr/>
        </p:nvSpPr>
        <p:spPr>
          <a:xfrm>
            <a:off x="3691157" y="541020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0.017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9ABCC65-25F0-4F32-84BD-8962F1C9268D}"/>
              </a:ext>
            </a:extLst>
          </p:cNvPr>
          <p:cNvSpPr>
            <a:spLocks noGrp="1"/>
          </p:cNvSpPr>
          <p:nvPr/>
        </p:nvSpPr>
        <p:spPr>
          <a:xfrm>
            <a:off x="1428750" y="5905500"/>
            <a:ext cx="885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Interpretation: students' earlier period grades are highly connected to their final result.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789823E-BF88-467B-B2F6-D0E839475C67}"/>
              </a:ext>
            </a:extLst>
          </p:cNvPr>
          <p:cNvSpPr>
            <a:spLocks noGrp="1"/>
          </p:cNvSpPr>
          <p:nvPr/>
        </p:nvSpPr>
        <p:spPr>
          <a:xfrm>
            <a:off x="1047750" y="6438900"/>
            <a:ext cx="742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Feature importance from the Decision Tree model.</a:t>
            </a:r>
          </a:p>
        </p:txBody>
      </p:sp>
    </p:spTree>
    <p:extLst>
      <p:ext uri="{BB962C8B-B14F-4D97-AF65-F5344CB8AC3E}">
        <p14:creationId xmlns:p14="http://schemas.microsoft.com/office/powerpoint/2010/main" val="1501385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572AEA5-0DB9-4A86-B5B1-160B53E549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F9FAF5-264C-4C5A-A145-1F0AEB48E153}"/>
              </a:ext>
            </a:extLst>
          </p:cNvPr>
          <p:cNvSpPr>
            <a:spLocks noGrp="1"/>
          </p:cNvSpPr>
          <p:nvPr/>
        </p:nvSpPr>
        <p:spPr>
          <a:xfrm>
            <a:off x="10620375" y="64389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78FA74-D719-4B11-B233-EBCD52BA1B47}"/>
              </a:ext>
            </a:extLst>
          </p:cNvPr>
          <p:cNvSpPr>
            <a:spLocks noGrp="1"/>
          </p:cNvSpPr>
          <p:nvPr/>
        </p:nvSpPr>
        <p:spPr>
          <a:xfrm>
            <a:off x="1047750" y="6286500"/>
            <a:ext cx="10096500" cy="1143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545044-E186-4DC6-8DDA-4A83F88D0AC2}"/>
              </a:ext>
            </a:extLst>
          </p:cNvPr>
          <p:cNvSpPr>
            <a:spLocks noGrp="1"/>
          </p:cNvSpPr>
          <p:nvPr/>
        </p:nvSpPr>
        <p:spPr>
          <a:xfrm>
            <a:off x="1047750" y="685800"/>
            <a:ext cx="80962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Random Forest is the recommended model for this project.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AEF2F7-CD43-421F-90FD-A3DE84871E13}"/>
              </a:ext>
            </a:extLst>
          </p:cNvPr>
          <p:cNvSpPr>
            <a:spLocks noGrp="1"/>
          </p:cNvSpPr>
          <p:nvPr/>
        </p:nvSpPr>
        <p:spPr>
          <a:xfrm>
            <a:off x="1066800" y="1752600"/>
            <a:ext cx="7810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It gave the highest accuracy while using the same cleaned dataset and test split.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BBE7B1-1B35-4E16-9839-241E1081C4D7}"/>
              </a:ext>
            </a:extLst>
          </p:cNvPr>
          <p:cNvSpPr>
            <a:spLocks noGrp="1"/>
          </p:cNvSpPr>
          <p:nvPr/>
        </p:nvSpPr>
        <p:spPr>
          <a:xfrm>
            <a:off x="1066800" y="2324100"/>
            <a:ext cx="457200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F6F2E0-65CF-4B44-899F-7A36993FFE46}"/>
              </a:ext>
            </a:extLst>
          </p:cNvPr>
          <p:cNvSpPr>
            <a:spLocks noGrp="1"/>
          </p:cNvSpPr>
          <p:nvPr/>
        </p:nvSpPr>
        <p:spPr>
          <a:xfrm>
            <a:off x="1390650" y="2609850"/>
            <a:ext cx="3810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Final conclusion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0A90EF2-CC47-4F75-903E-987FB1FBA0B9}"/>
              </a:ext>
            </a:extLst>
          </p:cNvPr>
          <p:cNvSpPr>
            <a:spLocks noGrp="1"/>
          </p:cNvSpPr>
          <p:nvPr/>
        </p:nvSpPr>
        <p:spPr>
          <a:xfrm>
            <a:off x="1428750" y="322897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BDB839-FD8A-4701-97EE-30047FBC5D7C}"/>
              </a:ext>
            </a:extLst>
          </p:cNvPr>
          <p:cNvSpPr>
            <a:spLocks noGrp="1"/>
          </p:cNvSpPr>
          <p:nvPr/>
        </p:nvSpPr>
        <p:spPr>
          <a:xfrm>
            <a:off x="1657350" y="3143250"/>
            <a:ext cx="3619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Decision Tree accuracy: 88.46%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3FC59E9-9683-4A55-A21E-8C0D569E5444}"/>
              </a:ext>
            </a:extLst>
          </p:cNvPr>
          <p:cNvSpPr>
            <a:spLocks noGrp="1"/>
          </p:cNvSpPr>
          <p:nvPr/>
        </p:nvSpPr>
        <p:spPr>
          <a:xfrm>
            <a:off x="1428750" y="362902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521A17-02F4-43F6-BCC1-917CEC91F9B7}"/>
              </a:ext>
            </a:extLst>
          </p:cNvPr>
          <p:cNvSpPr>
            <a:spLocks noGrp="1"/>
          </p:cNvSpPr>
          <p:nvPr/>
        </p:nvSpPr>
        <p:spPr>
          <a:xfrm>
            <a:off x="1657350" y="3543300"/>
            <a:ext cx="3619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Random Forest accuracy: 90.77%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CE4282-1670-43FC-BED3-94F28A0EB9AA}"/>
              </a:ext>
            </a:extLst>
          </p:cNvPr>
          <p:cNvSpPr>
            <a:spLocks noGrp="1"/>
          </p:cNvSpPr>
          <p:nvPr/>
        </p:nvSpPr>
        <p:spPr>
          <a:xfrm>
            <a:off x="1428750" y="402907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BEB8C7-1DE4-4BA2-A67D-55B593656902}"/>
              </a:ext>
            </a:extLst>
          </p:cNvPr>
          <p:cNvSpPr>
            <a:spLocks noGrp="1"/>
          </p:cNvSpPr>
          <p:nvPr/>
        </p:nvSpPr>
        <p:spPr>
          <a:xfrm>
            <a:off x="1657350" y="3943350"/>
            <a:ext cx="3619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Most important features: G2 and G1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98EB206-5954-4AC0-AC56-7218C75D2432}"/>
              </a:ext>
            </a:extLst>
          </p:cNvPr>
          <p:cNvSpPr>
            <a:spLocks noGrp="1"/>
          </p:cNvSpPr>
          <p:nvPr/>
        </p:nvSpPr>
        <p:spPr>
          <a:xfrm>
            <a:off x="1428750" y="442912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D531E3-2A0D-465A-AB94-C110CF43B58F}"/>
              </a:ext>
            </a:extLst>
          </p:cNvPr>
          <p:cNvSpPr>
            <a:spLocks noGrp="1"/>
          </p:cNvSpPr>
          <p:nvPr/>
        </p:nvSpPr>
        <p:spPr>
          <a:xfrm>
            <a:off x="1657350" y="4343400"/>
            <a:ext cx="3619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Prediction worked better for Pass than Fail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8D43DD-19DB-4C88-80E7-A9B3243614FF}"/>
              </a:ext>
            </a:extLst>
          </p:cNvPr>
          <p:cNvSpPr>
            <a:spLocks noGrp="1"/>
          </p:cNvSpPr>
          <p:nvPr/>
        </p:nvSpPr>
        <p:spPr>
          <a:xfrm>
            <a:off x="6572250" y="2324100"/>
            <a:ext cx="4000500" cy="272415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467BE-7D69-481F-9C10-7C42156C92A6}"/>
              </a:ext>
            </a:extLst>
          </p:cNvPr>
          <p:cNvSpPr>
            <a:spLocks noGrp="1"/>
          </p:cNvSpPr>
          <p:nvPr/>
        </p:nvSpPr>
        <p:spPr>
          <a:xfrm>
            <a:off x="6896100" y="2609850"/>
            <a:ext cx="3333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Presentation talking point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079790-BAB2-4949-BBA5-065EFD8BA676}"/>
              </a:ext>
            </a:extLst>
          </p:cNvPr>
          <p:cNvSpPr>
            <a:spLocks noGrp="1"/>
          </p:cNvSpPr>
          <p:nvPr/>
        </p:nvSpPr>
        <p:spPr>
          <a:xfrm>
            <a:off x="6896100" y="3143250"/>
            <a:ext cx="31432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This project shows how classification models can predict student pass/fail performance after cleaning and encoding the dataset.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B9BE3B-6190-4672-A2E9-D8FF0FC79D6E}"/>
              </a:ext>
            </a:extLst>
          </p:cNvPr>
          <p:cNvSpPr>
            <a:spLocks noGrp="1"/>
          </p:cNvSpPr>
          <p:nvPr/>
        </p:nvSpPr>
        <p:spPr>
          <a:xfrm>
            <a:off x="6896100" y="4476750"/>
            <a:ext cx="3143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Next improvement: test more models or balance the fail class.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7F5BBF-780F-4A4B-B4DB-2A5615A728FD}"/>
              </a:ext>
            </a:extLst>
          </p:cNvPr>
          <p:cNvSpPr>
            <a:spLocks noGrp="1"/>
          </p:cNvSpPr>
          <p:nvPr/>
        </p:nvSpPr>
        <p:spPr>
          <a:xfrm>
            <a:off x="1047750" y="6438900"/>
            <a:ext cx="742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End of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5258230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607</Words>
  <Application>Microsoft Office PowerPoint</Application>
  <DocSecurity>0</DocSecurity>
  <PresentationFormat>Widescreen</PresentationFormat>
  <Paragraphs>135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aziz</cp:lastModifiedBy>
  <cp:revision>3</cp:revision>
  <dcterms:created xsi:type="dcterms:W3CDTF">2026-06-17T01:48:12Z</dcterms:created>
  <dcterms:modified xsi:type="dcterms:W3CDTF">2026-06-17T14:40:01Z</dcterms:modified>
</cp:coreProperties>
</file>